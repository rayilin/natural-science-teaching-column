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開場：先問學生「植物有身體嗎？」再揭開標題。六個圓點先不解釋，留到第 3 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【引起動機 5 分】請 2–3 位學生上台指認。學生說錯也沒關係，先把所有答案寫在黑板上，後面再回頭修正。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【總覽 7 分】帶學生數 1–6，建立完整架構。可配合第 4 頁動畫。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播放動畫（12 秒，含旁白）。邊播邊指：「這個是根、這個是莖……」。播完再請學生複誦一次六個名稱。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【關鍵頁】用「顧自己／顧下一代」幫助記憶。請學生用手比出 3 和 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拿出連根小植物讓學生觀察。提問：「把根剪掉會怎樣？」引導說出吸水與固定。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播放動畫（12 秒，含旁白）。第一次完整播；第二次在 4 秒與 9 秒暫停，讓學生回答上面的三個問題。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展示事先泡過紅墨水的芹菜切面，讓學生看見莖內的通道。強調「節」的位置。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播放動畫（12 秒，含旁白）。暫停在 6 秒，問：「藍色和橘色的點，方向有一樣嗎？」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三年級只說「製造養分」，不深入葉綠素與光反應。用廚房比喻：陽光當火、水當食材。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【第一節收尾 3 分】全班齊念：根吸水、莖運送、葉製造。預告下一節要認識「顧下一代」的三個構造。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【複習 3 分】先三秒回顧根莖葉，再抛出「然後呢？」。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拿朱槿或百合讓學生用鑷子找雄蕊、雌蕊。強調「花色和香味是為了吸引昆蟲」。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播放動畫（15 秒，含旁白）。在 6 秒與 12 秒各暫停一次，讓學生預測下一個畫面。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切開番茄／芭樂觀察種子位置。提醒：我們吃的水果多半是果實，但果實不等於水果（例如稻穀也是果實）。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發綠豆與黃豆讓學生觀察種皮與種臍。發芽實驗可作為課後延伸。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【統整 8 分】發下分類表學習單，讓學生先自己填，再小組互查。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每張卡先讓學生舉手判斷對錯，再翻出正確說法。可請學生補充自己的例子。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答案：1 根｜2 葉｜3 支持並運送｜4 陽光、水、空氣｜5 蘿蔔｜6 傳粉並產生種子｜7 保護種子｜8 陽光｜9 花、果實、種子｜10 風。
用法：可用網頁的抽籤工具抽號碼，抽到的學生答一題；或用網頁測驗讓全班即時作答。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【行動 5 分】可作為課後作業。句型提示：「這是＿＿，它的＿＿可以＿＿。」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【評量 3 分】發出口票小卡。全班齊念一次帶走一句話再下課。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-1.mp4"/><Relationship Id="rId2" Type="http://schemas.microsoft.com/office/2007/relationships/media" Target="../media/media-4-1.mp4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video" Target="../media/media-7-1.mp4"/><Relationship Id="rId2" Type="http://schemas.microsoft.com/office/2007/relationships/media" Target="../media/media-7-1.mp4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video" Target="../media/media-9-1.mp4"/><Relationship Id="rId2" Type="http://schemas.microsoft.com/office/2007/relationships/media" Target="../media/media-9-1.mp4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4-1.mp4"/><Relationship Id="rId2" Type="http://schemas.microsoft.com/office/2007/relationships/media" Target="../media/media-14-1.mp4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7A1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翰林版自然科學・三年級上學期・第一單元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植物的構造和生長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8D3C7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根・莖・葉・花・果實・種子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4160520"/>
            <a:ext cx="3886200" cy="914"/>
          </a:xfrm>
          <a:prstGeom prst="line">
            <a:avLst/>
          </a:prstGeom>
          <a:noFill/>
          <a:ln w="50800">
            <a:solidFill>
              <a:srgbClr val="FF7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434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48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兩節課・80 分鐘・4 段動畫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21040" y="4160520"/>
            <a:ext cx="914400" cy="914400"/>
          </a:xfrm>
          <a:prstGeom prst="ellipse">
            <a:avLst/>
          </a:prstGeom>
          <a:solidFill>
            <a:srgbClr val="1F1F1F"/>
          </a:solidFill>
          <a:ln w="25400">
            <a:solidFill>
              <a:srgbClr val="3F8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0" y="4160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根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09760" y="4160520"/>
            <a:ext cx="914400" cy="914400"/>
          </a:xfrm>
          <a:prstGeom prst="ellipse">
            <a:avLst/>
          </a:prstGeom>
          <a:solidFill>
            <a:srgbClr val="1F1F1F"/>
          </a:solidFill>
          <a:ln w="25400">
            <a:solidFill>
              <a:srgbClr val="3F8F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0" y="4160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莖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698480" y="4160520"/>
            <a:ext cx="914400" cy="914400"/>
          </a:xfrm>
          <a:prstGeom prst="ellipse">
            <a:avLst/>
          </a:prstGeom>
          <a:solidFill>
            <a:srgbClr val="1F1F1F"/>
          </a:solidFill>
          <a:ln w="25400">
            <a:solidFill>
              <a:srgbClr val="3F8F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0" y="4160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21040" y="5303520"/>
            <a:ext cx="914400" cy="914400"/>
          </a:xfrm>
          <a:prstGeom prst="ellipse">
            <a:avLst/>
          </a:prstGeom>
          <a:solidFill>
            <a:srgbClr val="1F1F1F"/>
          </a:solidFill>
          <a:ln w="25400">
            <a:solidFill>
              <a:srgbClr val="FF7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5303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花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09760" y="5303520"/>
            <a:ext cx="914400" cy="914400"/>
          </a:xfrm>
          <a:prstGeom prst="ellipse">
            <a:avLst/>
          </a:prstGeom>
          <a:solidFill>
            <a:srgbClr val="1F1F1F"/>
          </a:solidFill>
          <a:ln w="25400">
            <a:solidFill>
              <a:srgbClr val="FF7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5303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果實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98480" y="5303520"/>
            <a:ext cx="914400" cy="914400"/>
          </a:xfrm>
          <a:prstGeom prst="ellipse">
            <a:avLst/>
          </a:prstGeom>
          <a:solidFill>
            <a:srgbClr val="1F1F1F"/>
          </a:solidFill>
          <a:ln w="25400">
            <a:solidFill>
              <a:srgbClr val="FF7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0" y="5303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種子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問題引入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這株植物，你認得幾個部位？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4846320"/>
            <a:ext cx="4937760" cy="1371600"/>
          </a:xfrm>
          <a:prstGeom prst="rect">
            <a:avLst/>
          </a:prstGeom>
          <a:solidFill>
            <a:srgbClr val="E4D9C6"/>
          </a:solidFill>
          <a:ln w="12700">
            <a:solidFill>
              <a:srgbClr val="D3C4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51560" y="2286000"/>
            <a:ext cx="914" cy="2148840"/>
          </a:xfrm>
          <a:prstGeom prst="line">
            <a:avLst/>
          </a:prstGeom>
          <a:noFill/>
          <a:ln w="101600">
            <a:solidFill>
              <a:srgbClr val="3F8F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1680000">
            <a:off x="0" y="3246120"/>
            <a:ext cx="1005840" cy="502920"/>
          </a:xfrm>
          <a:prstGeom prst="ellipse">
            <a:avLst/>
          </a:prstGeom>
          <a:solidFill>
            <a:srgbClr val="6FBF5A"/>
          </a:solidFill>
          <a:ln w="12700">
            <a:solidFill>
              <a:srgbClr val="4C9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680000">
            <a:off x="1097280" y="2880360"/>
            <a:ext cx="1005840" cy="502920"/>
          </a:xfrm>
          <a:prstGeom prst="ellipse">
            <a:avLst/>
          </a:prstGeom>
          <a:solidFill>
            <a:srgbClr val="6FBF5A"/>
          </a:solidFill>
          <a:ln w="12700">
            <a:solidFill>
              <a:srgbClr val="4C9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901952"/>
            <a:ext cx="512064" cy="512064"/>
          </a:xfrm>
          <a:prstGeom prst="ellipse">
            <a:avLst/>
          </a:prstGeom>
          <a:solidFill>
            <a:srgbClr val="FFB03A"/>
          </a:solidFill>
          <a:ln w="19050">
            <a:solidFill>
              <a:srgbClr val="E860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4168" y="3611880"/>
            <a:ext cx="457200" cy="457200"/>
          </a:xfrm>
          <a:prstGeom prst="ellipse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28600" y="4846320"/>
            <a:ext cx="822960" cy="1207008"/>
          </a:xfrm>
          <a:prstGeom prst="line">
            <a:avLst/>
          </a:prstGeom>
          <a:noFill/>
          <a:ln w="38100">
            <a:solidFill>
              <a:srgbClr val="B886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640080" y="4846320"/>
            <a:ext cx="411480" cy="1207008"/>
          </a:xfrm>
          <a:prstGeom prst="line">
            <a:avLst/>
          </a:prstGeom>
          <a:noFill/>
          <a:ln w="38100">
            <a:solidFill>
              <a:srgbClr val="B886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4846320"/>
            <a:ext cx="914" cy="1207008"/>
          </a:xfrm>
          <a:prstGeom prst="line">
            <a:avLst/>
          </a:prstGeom>
          <a:noFill/>
          <a:ln w="38100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4846320"/>
            <a:ext cx="411480" cy="1207008"/>
          </a:xfrm>
          <a:prstGeom prst="line">
            <a:avLst/>
          </a:prstGeom>
          <a:noFill/>
          <a:ln w="38100">
            <a:solidFill>
              <a:srgbClr val="B886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4846320"/>
            <a:ext cx="822960" cy="1207008"/>
          </a:xfrm>
          <a:prstGeom prst="line">
            <a:avLst/>
          </a:prstGeom>
          <a:noFill/>
          <a:ln w="38100">
            <a:solidFill>
              <a:srgbClr val="B886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18488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？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-36576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？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92024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？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280160" y="5897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？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400800" y="196596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2276856"/>
            <a:ext cx="420624" cy="420624"/>
          </a:xfrm>
          <a:prstGeom prst="ellipse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267712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21214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這是什麼？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7269480" y="25694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先說出名稱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329184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3602736"/>
            <a:ext cx="420624" cy="420624"/>
          </a:xfrm>
          <a:prstGeom prst="ellipse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3593592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69480" y="34472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它有什麼用？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7269480" y="389534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再想想功能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461772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4928616"/>
            <a:ext cx="420624" cy="420624"/>
          </a:xfrm>
          <a:prstGeom prst="ellipse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4919472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69480" y="47731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如果沒有它？</a:t>
            </a:r>
            <a:endParaRPr lang="en-US" sz="2300" dirty="0"/>
          </a:p>
        </p:txBody>
      </p:sp>
      <p:sp>
        <p:nvSpPr>
          <p:cNvPr id="33" name="Text 31"/>
          <p:cNvSpPr/>
          <p:nvPr/>
        </p:nvSpPr>
        <p:spPr>
          <a:xfrm>
            <a:off x="7269480" y="522122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最後推論後果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0" y="5897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56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先讓學生自由說，教師只記錄、不糾正。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總概念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六個基本構造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0156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002536"/>
            <a:ext cx="457200" cy="457200"/>
          </a:xfrm>
          <a:prstGeom prst="ellipse">
            <a:avLst/>
          </a:prstGeom>
          <a:solidFill>
            <a:srgbClr val="3F8F4A"/>
          </a:solidFill>
          <a:ln w="12700">
            <a:solidFill>
              <a:srgbClr val="3F8F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9339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53312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根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86384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吸收水分與礦物質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06240" y="1783080"/>
            <a:ext cx="340156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5696" y="2002536"/>
            <a:ext cx="457200" cy="457200"/>
          </a:xfrm>
          <a:prstGeom prst="ellipse">
            <a:avLst/>
          </a:prstGeom>
          <a:solidFill>
            <a:srgbClr val="3F8F4A"/>
          </a:solidFill>
          <a:ln w="12700">
            <a:solidFill>
              <a:srgbClr val="3F8F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5696" y="199339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10912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莖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443984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支持植物、運送養分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63840" y="1783080"/>
            <a:ext cx="340156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3296" y="2002536"/>
            <a:ext cx="457200" cy="457200"/>
          </a:xfrm>
          <a:prstGeom prst="ellipse">
            <a:avLst/>
          </a:prstGeom>
          <a:solidFill>
            <a:srgbClr val="3F8F4A"/>
          </a:solidFill>
          <a:ln w="12700">
            <a:solidFill>
              <a:srgbClr val="3F8F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83296" y="199339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68512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葉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101584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製造植物需要的養分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40156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877056"/>
            <a:ext cx="457200" cy="457200"/>
          </a:xfrm>
          <a:prstGeom prst="ellipse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86791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53312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花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786384" y="44805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傳粉，產生種子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206240" y="3657600"/>
            <a:ext cx="340156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25696" y="3877056"/>
            <a:ext cx="457200" cy="457200"/>
          </a:xfrm>
          <a:prstGeom prst="ellipse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25696" y="386791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10912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果實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4443984" y="44805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保護種子、幫助傳播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863840" y="3657600"/>
            <a:ext cx="340156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83296" y="3877056"/>
            <a:ext cx="457200" cy="457200"/>
          </a:xfrm>
          <a:prstGeom prst="ellipse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83296" y="386791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68512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種子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8101584" y="44805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長成新的植物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94360" y="5623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A6A6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先記住名字和位置，功能等一下一個一個拆開來看。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總概念・動畫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植物的身體大搜查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93776" y="1728216"/>
            <a:ext cx="7424928" cy="422452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783080"/>
            <a:ext cx="73152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07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▶ 點一下播放（含旁白，可隨時暫停）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①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32520" y="1938528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根在土裡，莖往上長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②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732520" y="3172968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葉子向著光，花開在頂端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③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732520" y="4407408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果實和種子藏在花的身旁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229600" y="5623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六個構造，各司其職。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分類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分成兩組，更好記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7490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5400">
            <a:solidFill>
              <a:srgbClr val="3F8F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394960" cy="868680"/>
          </a:xfrm>
          <a:prstGeom prst="roundRect">
            <a:avLst>
              <a:gd name="adj" fmla="val 16842"/>
            </a:avLst>
          </a:prstGeom>
          <a:solidFill>
            <a:srgbClr val="3F8F4A"/>
          </a:solidFill>
          <a:ln w="12700">
            <a:solidFill>
              <a:srgbClr val="3F8F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0195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營養器官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42900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AF5E8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讓植物活下去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953512"/>
            <a:ext cx="457200" cy="457200"/>
          </a:xfrm>
          <a:prstGeom prst="ellipse">
            <a:avLst/>
          </a:prstGeom>
          <a:solidFill>
            <a:srgbClr val="3F8F4A"/>
          </a:solidFill>
          <a:ln w="12700">
            <a:solidFill>
              <a:srgbClr val="3F8F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4436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36192" y="2880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43200" y="293522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吸水、固定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3794760"/>
            <a:ext cx="457200" cy="457200"/>
          </a:xfrm>
          <a:prstGeom prst="ellipse">
            <a:avLst/>
          </a:prstGeom>
          <a:solidFill>
            <a:srgbClr val="3F8F4A"/>
          </a:solidFill>
          <a:ln w="12700">
            <a:solidFill>
              <a:srgbClr val="3F8F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8561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36192" y="372160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743200" y="37764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支持、運送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4636008"/>
            <a:ext cx="457200" cy="457200"/>
          </a:xfrm>
          <a:prstGeom prst="ellipse">
            <a:avLst/>
          </a:prstGeom>
          <a:solidFill>
            <a:srgbClr val="3F8F4A"/>
          </a:solidFill>
          <a:ln w="12700">
            <a:solidFill>
              <a:srgbClr val="3F8F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62686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36192" y="4562856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葉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743200" y="4617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製造養分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45352" y="1783080"/>
            <a:ext cx="5394960" cy="37490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5400">
            <a:solidFill>
              <a:srgbClr val="E860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45352" y="1783080"/>
            <a:ext cx="5394960" cy="868680"/>
          </a:xfrm>
          <a:prstGeom prst="roundRect">
            <a:avLst>
              <a:gd name="adj" fmla="val 16842"/>
            </a:avLst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190195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生殖器官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125712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0E6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讓植物有下一代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11112" y="2953512"/>
            <a:ext cx="457200" cy="457200"/>
          </a:xfrm>
          <a:prstGeom prst="ellipse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11112" y="294436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32904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花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549640" y="293522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傳粉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611112" y="3794760"/>
            <a:ext cx="457200" cy="457200"/>
          </a:xfrm>
          <a:prstGeom prst="ellipse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1112" y="378561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32904" y="372160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果實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549640" y="37764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保護種子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611112" y="4636008"/>
            <a:ext cx="457200" cy="457200"/>
          </a:xfrm>
          <a:prstGeom prst="ellipse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11112" y="462686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32904" y="456285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種子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549640" y="4617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繁殖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94360" y="5806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口訣：根莖葉顧自己，花果種子顧下一代。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構造 1・根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根：植物的嘴巴和爪子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937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F8F4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鬚根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像鬍鬚，一叢一叢（例：蔥、稻）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 flipV="1">
            <a:off x="3520440" y="2743200"/>
            <a:ext cx="640080" cy="960120"/>
          </a:xfrm>
          <a:prstGeom prst="line">
            <a:avLst/>
          </a:prstGeom>
          <a:noFill/>
          <a:ln w="317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3721608" y="2743200"/>
            <a:ext cx="438912" cy="960120"/>
          </a:xfrm>
          <a:prstGeom prst="line">
            <a:avLst/>
          </a:prstGeom>
          <a:noFill/>
          <a:ln w="31750">
            <a:solidFill>
              <a:srgbClr val="B886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3922776" y="2743200"/>
            <a:ext cx="237744" cy="960120"/>
          </a:xfrm>
          <a:prstGeom prst="line">
            <a:avLst/>
          </a:prstGeom>
          <a:noFill/>
          <a:ln w="31750">
            <a:solidFill>
              <a:srgbClr val="B886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123944" y="2743200"/>
            <a:ext cx="36576" cy="960120"/>
          </a:xfrm>
          <a:prstGeom prst="line">
            <a:avLst/>
          </a:prstGeom>
          <a:noFill/>
          <a:ln w="31750">
            <a:solidFill>
              <a:srgbClr val="B886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2743200"/>
            <a:ext cx="164592" cy="960120"/>
          </a:xfrm>
          <a:prstGeom prst="line">
            <a:avLst/>
          </a:prstGeom>
          <a:noFill/>
          <a:ln w="31750">
            <a:solidFill>
              <a:srgbClr val="B886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2743200"/>
            <a:ext cx="365760" cy="960120"/>
          </a:xfrm>
          <a:prstGeom prst="line">
            <a:avLst/>
          </a:prstGeom>
          <a:noFill/>
          <a:ln w="31750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2743200"/>
            <a:ext cx="566928" cy="960120"/>
          </a:xfrm>
          <a:prstGeom prst="line">
            <a:avLst/>
          </a:prstGeom>
          <a:noFill/>
          <a:ln w="31750">
            <a:solidFill>
              <a:srgbClr val="B886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160520"/>
            <a:ext cx="49377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97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軸根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有一條明顯主根（例：蘿蔔、胡蘿蔔）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069080" y="4526280"/>
            <a:ext cx="310896" cy="1188720"/>
          </a:xfrm>
          <a:prstGeom prst="roundRect">
            <a:avLst>
              <a:gd name="adj" fmla="val 44118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749040" y="5074920"/>
            <a:ext cx="365760" cy="320040"/>
          </a:xfrm>
          <a:prstGeom prst="line">
            <a:avLst/>
          </a:prstGeom>
          <a:noFill/>
          <a:ln w="31750">
            <a:solidFill>
              <a:srgbClr val="B886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5968" y="5257800"/>
            <a:ext cx="347472" cy="274320"/>
          </a:xfrm>
          <a:prstGeom prst="line">
            <a:avLst/>
          </a:prstGeom>
          <a:noFill/>
          <a:ln w="31750">
            <a:solidFill>
              <a:srgbClr val="B886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2130552"/>
            <a:ext cx="420624" cy="420624"/>
          </a:xfrm>
          <a:prstGeom prst="ellipse">
            <a:avLst/>
          </a:prstGeom>
          <a:solidFill>
            <a:srgbClr val="3F8F4A"/>
          </a:solidFill>
          <a:ln w="12700">
            <a:solidFill>
              <a:srgbClr val="3F8F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2121408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10528" y="18928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吸收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510528" y="23500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水分與礦物質從根毛進入植物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43600" y="3502152"/>
            <a:ext cx="420624" cy="420624"/>
          </a:xfrm>
          <a:prstGeom prst="ellipse">
            <a:avLst/>
          </a:prstGeom>
          <a:solidFill>
            <a:srgbClr val="3F8F4A"/>
          </a:solidFill>
          <a:ln w="12700">
            <a:solidFill>
              <a:srgbClr val="3F8F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3493008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10528" y="32644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固定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510528" y="37216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把植物牢牢抓住，不被風吹倒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0" y="4873752"/>
            <a:ext cx="420624" cy="420624"/>
          </a:xfrm>
          <a:prstGeom prst="ellipse">
            <a:avLst/>
          </a:prstGeom>
          <a:solidFill>
            <a:srgbClr val="3F8F4A"/>
          </a:solidFill>
          <a:ln w="12700">
            <a:solidFill>
              <a:srgbClr val="3F8F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4864608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10528" y="4636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儲存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510528" y="50932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有些根會儲存養分（如蘿蔔）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897880" y="5897880"/>
            <a:ext cx="5669280" cy="502920"/>
          </a:xfrm>
          <a:prstGeom prst="roundRect">
            <a:avLst>
              <a:gd name="adj" fmla="val 18182"/>
            </a:avLst>
          </a:prstGeom>
          <a:solidFill>
            <a:srgbClr val="FFF0E6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59618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601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根毛又細又多，讓吸收表面積變大。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構造 1・動畫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根怎麼吸水？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93776" y="1728216"/>
            <a:ext cx="7424928" cy="422452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783080"/>
            <a:ext cx="73152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07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▶ 點一下播放（含旁白，可隨時暫停）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0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看動畫，找三件事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0" y="23317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① 水從哪裡進入根？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0" y="32004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② 根毛有什麼作用？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229600" y="40690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③ 水接下來往哪裡去？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229600" y="5394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答案：根毛 → 根 → 莖 → 葉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構造 2・莖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莖：植物的骨架和輸送管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754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F8F4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草莖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柔軟、容易彎曲（例：蔥、酢漿草）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51560" y="3063240"/>
            <a:ext cx="320040" cy="457200"/>
          </a:xfrm>
          <a:prstGeom prst="line">
            <a:avLst/>
          </a:prstGeom>
          <a:noFill/>
          <a:ln w="50800">
            <a:solidFill>
              <a:srgbClr val="3F8F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3063240"/>
            <a:ext cx="320040" cy="457200"/>
          </a:xfrm>
          <a:prstGeom prst="line">
            <a:avLst/>
          </a:prstGeom>
          <a:noFill/>
          <a:ln w="50800">
            <a:solidFill>
              <a:srgbClr val="3F8F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3063240"/>
            <a:ext cx="320040" cy="457200"/>
          </a:xfrm>
          <a:prstGeom prst="line">
            <a:avLst/>
          </a:prstGeom>
          <a:noFill/>
          <a:ln w="50800">
            <a:solidFill>
              <a:srgbClr val="3F8F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3063240"/>
            <a:ext cx="320040" cy="457200"/>
          </a:xfrm>
          <a:prstGeom prst="line">
            <a:avLst/>
          </a:prstGeom>
          <a:noFill/>
          <a:ln w="50800">
            <a:solidFill>
              <a:srgbClr val="3F8F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977640"/>
            <a:ext cx="4754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14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木莖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堅硬、有樹皮（例：樟樹、榕樹）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97280" y="5074920"/>
            <a:ext cx="457200" cy="777240"/>
          </a:xfrm>
          <a:prstGeom prst="roundRect">
            <a:avLst/>
          </a:prstGeom>
          <a:solidFill>
            <a:srgbClr val="8A5A2B"/>
          </a:solidFill>
          <a:ln w="12700">
            <a:solidFill>
              <a:srgbClr val="6B44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5029200"/>
            <a:ext cx="1737360" cy="822960"/>
          </a:xfrm>
          <a:prstGeom prst="ellipse">
            <a:avLst/>
          </a:prstGeom>
          <a:solidFill>
            <a:srgbClr val="D9C7A7"/>
          </a:solidFill>
          <a:ln w="25400">
            <a:solidFill>
              <a:srgbClr val="8A5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5230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4420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年輪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06440" y="2084832"/>
            <a:ext cx="420624" cy="42062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075688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3368" y="18470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支持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373368" y="23042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把葉子和花撐高，爭取陽光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806440" y="3456432"/>
            <a:ext cx="420624" cy="42062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3447288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73368" y="32186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運輸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373368" y="36758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把水和養分送到植物全身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806440" y="4828032"/>
            <a:ext cx="420624" cy="42062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4818888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73368" y="45902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節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373368" y="50474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莖上長葉子的地方，會留下節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760720" y="59436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601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小實驗：把芹菜泡在紅墨水中，看看哪個部位被染色了？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構造 2・動畫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莖裡的運輸通道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93776" y="1728216"/>
            <a:ext cx="7424928" cy="422452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783080"/>
            <a:ext cx="73152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07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▶ 點一下播放（含旁白，可隨時暫停）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0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兩種方向，兩種任務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7FB8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水分往上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0" y="29260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從根吸上來，送到葉子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0" y="3886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養分往下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229600" y="43434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葉子製造後，送到根和果實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229600" y="5394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莖＝高速公路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構造 3・葉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葉：植物的廚房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 rot="-720000">
            <a:off x="914400" y="2057400"/>
            <a:ext cx="3931920" cy="2377440"/>
          </a:xfrm>
          <a:prstGeom prst="ellipse">
            <a:avLst/>
          </a:prstGeom>
          <a:solidFill>
            <a:srgbClr val="6FBF5A"/>
          </a:solidFill>
          <a:ln w="25400">
            <a:solidFill>
              <a:srgbClr val="3F8F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43000" y="2834640"/>
            <a:ext cx="3383280" cy="731520"/>
          </a:xfrm>
          <a:prstGeom prst="line">
            <a:avLst/>
          </a:prstGeom>
          <a:noFill/>
          <a:ln w="38100">
            <a:solidFill>
              <a:srgbClr val="2F6B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751990" y="2931566"/>
            <a:ext cx="320040" cy="502920"/>
          </a:xfrm>
          <a:prstGeom prst="line">
            <a:avLst/>
          </a:prstGeom>
          <a:noFill/>
          <a:ln w="19050">
            <a:solidFill>
              <a:srgbClr val="2F6B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51990" y="3434486"/>
            <a:ext cx="274320" cy="502920"/>
          </a:xfrm>
          <a:prstGeom prst="line">
            <a:avLst/>
          </a:prstGeom>
          <a:noFill/>
          <a:ln w="19050">
            <a:solidFill>
              <a:srgbClr val="2F6B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293315" y="2814523"/>
            <a:ext cx="320040" cy="502920"/>
          </a:xfrm>
          <a:prstGeom prst="line">
            <a:avLst/>
          </a:prstGeom>
          <a:noFill/>
          <a:ln w="19050">
            <a:solidFill>
              <a:srgbClr val="2F6B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3315" y="3317443"/>
            <a:ext cx="274320" cy="502920"/>
          </a:xfrm>
          <a:prstGeom prst="line">
            <a:avLst/>
          </a:prstGeom>
          <a:noFill/>
          <a:ln w="19050">
            <a:solidFill>
              <a:srgbClr val="2F6B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834640" y="2697480"/>
            <a:ext cx="320040" cy="502920"/>
          </a:xfrm>
          <a:prstGeom prst="line">
            <a:avLst/>
          </a:prstGeom>
          <a:noFill/>
          <a:ln w="19050">
            <a:solidFill>
              <a:srgbClr val="2F6B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3200400"/>
            <a:ext cx="274320" cy="502920"/>
          </a:xfrm>
          <a:prstGeom prst="line">
            <a:avLst/>
          </a:prstGeom>
          <a:noFill/>
          <a:ln w="19050">
            <a:solidFill>
              <a:srgbClr val="2F6B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375965" y="2580437"/>
            <a:ext cx="320040" cy="502920"/>
          </a:xfrm>
          <a:prstGeom prst="line">
            <a:avLst/>
          </a:prstGeom>
          <a:noFill/>
          <a:ln w="19050">
            <a:solidFill>
              <a:srgbClr val="2F6B1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75965" y="3083357"/>
            <a:ext cx="274320" cy="502920"/>
          </a:xfrm>
          <a:prstGeom prst="line">
            <a:avLst/>
          </a:prstGeom>
          <a:noFill/>
          <a:ln w="19050">
            <a:solidFill>
              <a:srgbClr val="2F6B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3917290" y="2463394"/>
            <a:ext cx="320040" cy="502920"/>
          </a:xfrm>
          <a:prstGeom prst="line">
            <a:avLst/>
          </a:prstGeom>
          <a:noFill/>
          <a:ln w="19050">
            <a:solidFill>
              <a:srgbClr val="2F6B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17290" y="2966314"/>
            <a:ext cx="274320" cy="502920"/>
          </a:xfrm>
          <a:prstGeom prst="line">
            <a:avLst/>
          </a:prstGeom>
          <a:noFill/>
          <a:ln w="19050">
            <a:solidFill>
              <a:srgbClr val="2F6B1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502920" y="3566160"/>
            <a:ext cx="640080" cy="457200"/>
          </a:xfrm>
          <a:prstGeom prst="line">
            <a:avLst/>
          </a:prstGeom>
          <a:noFill/>
          <a:ln w="76200">
            <a:solidFill>
              <a:srgbClr val="2F6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葉片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4160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葉脈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" y="4160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葉柄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60720" y="1783080"/>
            <a:ext cx="5852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1911096"/>
            <a:ext cx="64008" cy="1298448"/>
          </a:xfrm>
          <a:prstGeom prst="rect">
            <a:avLst/>
          </a:prstGeom>
          <a:solidFill>
            <a:srgbClr val="3F8F4A"/>
          </a:solidFill>
          <a:ln w="12700">
            <a:solidFill>
              <a:srgbClr val="3F8F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16752" y="192024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光合作用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016752" y="2350008"/>
            <a:ext cx="537667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陽光 + 水 + 二氧化碳 → 養分 + 氧氣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760720" y="3474720"/>
            <a:ext cx="58521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0" y="3602736"/>
            <a:ext cx="64008" cy="10698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361188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葉脈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016752" y="4041648"/>
            <a:ext cx="537667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輸送水分，也撐住葉片（網狀脈／平行脈）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760720" y="4937760"/>
            <a:ext cx="5852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5065776"/>
            <a:ext cx="64008" cy="9784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507492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葉形大不同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16752" y="5504688"/>
            <a:ext cx="537667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仙人掌的針狀葉可以減少水分蒸散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212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第一節小結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這三個，讓植物活下去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46120" cy="2834640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 w="254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87168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根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吸水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39776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B4A9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吸收水分與礦物質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2286000"/>
            <a:ext cx="3246120" cy="2834640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 w="25400">
            <a:solidFill>
              <a:srgbClr val="FF7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2487168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莖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34840" y="3246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運送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63440" y="39776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B4A9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支持並輸送水分養分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2286000"/>
            <a:ext cx="3246120" cy="2834640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 w="25400">
            <a:solidFill>
              <a:srgbClr val="FF7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487168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葉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046720" y="3246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製造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75320" y="39776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B4A9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行光合作用製造養分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合稱：營養器官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7A1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第二節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花・果實・種子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8D3C7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植物活下來之後，然後呢？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4389120"/>
            <a:ext cx="3337560" cy="914"/>
          </a:xfrm>
          <a:prstGeom prst="line">
            <a:avLst/>
          </a:prstGeom>
          <a:noFill/>
          <a:ln w="50800">
            <a:solidFill>
              <a:srgbClr val="FF7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617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48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這三個構造的任務不是讓自己活著，而是讓下一代出現。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構造 4・花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花：植物的繁殖工廠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944368" y="2496312"/>
            <a:ext cx="603504" cy="1005840"/>
          </a:xfrm>
          <a:prstGeom prst="ellipse">
            <a:avLst/>
          </a:prstGeom>
          <a:solidFill>
            <a:srgbClr val="FFB03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3600000">
            <a:off x="3514531" y="2825496"/>
            <a:ext cx="603504" cy="1005840"/>
          </a:xfrm>
          <a:prstGeom prst="ellipse">
            <a:avLst/>
          </a:prstGeom>
          <a:solidFill>
            <a:srgbClr val="FFB03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7200000">
            <a:off x="3514531" y="3483864"/>
            <a:ext cx="603504" cy="1005840"/>
          </a:xfrm>
          <a:prstGeom prst="ellipse">
            <a:avLst/>
          </a:prstGeom>
          <a:solidFill>
            <a:srgbClr val="FFB03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2944368" y="3813048"/>
            <a:ext cx="603504" cy="1005840"/>
          </a:xfrm>
          <a:prstGeom prst="ellipse">
            <a:avLst/>
          </a:prstGeom>
          <a:solidFill>
            <a:srgbClr val="FFB03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4400000">
            <a:off x="2374205" y="3483864"/>
            <a:ext cx="603504" cy="1005840"/>
          </a:xfrm>
          <a:prstGeom prst="ellipse">
            <a:avLst/>
          </a:prstGeom>
          <a:solidFill>
            <a:srgbClr val="FFB03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8000000">
            <a:off x="2374205" y="2825496"/>
            <a:ext cx="603504" cy="1005840"/>
          </a:xfrm>
          <a:prstGeom prst="ellipse">
            <a:avLst/>
          </a:prstGeom>
          <a:solidFill>
            <a:srgbClr val="FFB03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4368" y="3355848"/>
            <a:ext cx="603504" cy="603504"/>
          </a:xfrm>
          <a:prstGeom prst="ellipse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花瓣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" y="4709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8F4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花萼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492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雄蕊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4572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雌蕊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00200" y="2194560"/>
            <a:ext cx="1600200" cy="457200"/>
          </a:xfrm>
          <a:prstGeom prst="line">
            <a:avLst/>
          </a:prstGeom>
          <a:noFill/>
          <a:ln w="19050">
            <a:solidFill>
              <a:srgbClr val="E860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417320" y="4572000"/>
            <a:ext cx="1600200" cy="182880"/>
          </a:xfrm>
          <a:prstGeom prst="line">
            <a:avLst/>
          </a:prstGeom>
          <a:noFill/>
          <a:ln w="19050">
            <a:solidFill>
              <a:srgbClr val="3F8F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4023360" y="2606040"/>
            <a:ext cx="1005840" cy="50292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4206240"/>
            <a:ext cx="1280160" cy="41148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178308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911096"/>
            <a:ext cx="64008" cy="116128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19202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花瓣＋花萼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48272" y="2350008"/>
            <a:ext cx="464515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保護花裡面的生殖構造，也吸引昆蟲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92240" y="333756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465576"/>
            <a:ext cx="64008" cy="116128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347472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雄蕊＋雌蕊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48272" y="3904488"/>
            <a:ext cx="464515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雄蕊的花粉傳到雌蕊，才會結出果實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492240" y="489204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5020056"/>
            <a:ext cx="64008" cy="9784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50292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花是生殖器官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748272" y="5458968"/>
            <a:ext cx="464515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花謝了不是結束，而是果實與種子的開始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構造 4・5・6・動畫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從花到種子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93776" y="1728216"/>
            <a:ext cx="7424928" cy="422452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783080"/>
            <a:ext cx="73152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07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▶ 點一下播放（含旁白，可隨時暫停）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0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看動畫，注意三件事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0" y="23317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① 花謝了以後，哪個部位變大？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0" y="32918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② 種子藏在哪裡？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0" y="42519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③ 種子最後會變成什麼？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0" y="5486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花 → 果實 → 種子 → 新植物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構造 5・果實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果實：種子的保護箱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1371600" cy="1371600"/>
          </a:xfrm>
          <a:prstGeom prst="ellipse">
            <a:avLst/>
          </a:prstGeom>
          <a:solidFill>
            <a:srgbClr val="E8601A"/>
          </a:solidFill>
          <a:ln w="25400">
            <a:solidFill>
              <a:srgbClr val="C24E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800000">
            <a:off x="1691640" y="1645920"/>
            <a:ext cx="685800" cy="310896"/>
          </a:xfrm>
          <a:prstGeom prst="ellipse">
            <a:avLst/>
          </a:prstGeom>
          <a:solidFill>
            <a:srgbClr val="5FB33F"/>
          </a:solidFill>
          <a:ln w="12700">
            <a:solidFill>
              <a:srgbClr val="3F8F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971800"/>
            <a:ext cx="274320" cy="274320"/>
          </a:xfrm>
          <a:prstGeom prst="ellipse">
            <a:avLst/>
          </a:prstGeom>
          <a:solidFill>
            <a:srgbClr val="D9B44A"/>
          </a:solidFill>
          <a:ln w="12700">
            <a:solidFill>
              <a:srgbClr val="8A6D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3154680"/>
            <a:ext cx="274320" cy="274320"/>
          </a:xfrm>
          <a:prstGeom prst="ellipse">
            <a:avLst/>
          </a:prstGeom>
          <a:solidFill>
            <a:srgbClr val="D9B44A"/>
          </a:solidFill>
          <a:ln w="12700">
            <a:solidFill>
              <a:srgbClr val="8A6D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番茄（果實）裡藏著種子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31920" y="17830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1911096"/>
            <a:ext cx="64008" cy="157276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87952" y="19202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保護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87952" y="2350008"/>
            <a:ext cx="226771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果實包住種子，避免被撞壞、曬壞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931920" y="38404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3968496"/>
            <a:ext cx="64008" cy="15727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87952" y="3977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傳播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187952" y="4407408"/>
            <a:ext cx="226771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讓種子離媽媽遠一點，減少競爭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949440" y="1783080"/>
            <a:ext cx="466344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1911096"/>
            <a:ext cx="64008" cy="3630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19202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果實怎麼旅行？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05472" y="2350008"/>
            <a:ext cx="4187952" cy="3227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風：蒲公英、楓樹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水：椰子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動物：鬼針草、漿果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被吃掉、被帶走、被風吹走，都是幫種子找新家。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構造 6・種子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種子：下一株植物的起點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560320" cy="1828800"/>
          </a:xfrm>
          <a:prstGeom prst="ellipse">
            <a:avLst/>
          </a:prstGeom>
          <a:solidFill>
            <a:srgbClr val="D9B44A"/>
          </a:solidFill>
          <a:ln w="25400">
            <a:solidFill>
              <a:srgbClr val="8A6D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651760"/>
            <a:ext cx="1737360" cy="1097280"/>
          </a:xfrm>
          <a:prstGeom prst="ellipse">
            <a:avLst/>
          </a:prstGeom>
          <a:solidFill>
            <a:srgbClr val="F0DCA0"/>
          </a:solidFill>
          <a:ln w="12700">
            <a:solidFill>
              <a:srgbClr val="B896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4206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D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種皮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420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胚（下一代的小植物）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種子＝種皮＋胚＋養分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34840" y="2148840"/>
            <a:ext cx="1051560" cy="1051560"/>
          </a:xfrm>
          <a:prstGeom prst="ellipse">
            <a:avLst/>
          </a:prstGeom>
          <a:solidFill>
            <a:srgbClr val="2C7F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2331720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水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06240" y="32918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泡水的棉花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2148840"/>
            <a:ext cx="1051560" cy="1051560"/>
          </a:xfrm>
          <a:prstGeom prst="ellipse">
            <a:avLst/>
          </a:prstGeom>
          <a:solidFill>
            <a:srgbClr val="0E7C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2331720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空氣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20840" y="32918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透氣的土壤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464040" y="2148840"/>
            <a:ext cx="1051560" cy="1051560"/>
          </a:xfrm>
          <a:prstGeom prst="ellipse">
            <a:avLst/>
          </a:prstGeom>
          <a:solidFill>
            <a:srgbClr val="E860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2331720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適溫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235440" y="32918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室溫，不冰不熱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34840" y="4069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三個條件缺一不可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34840" y="480060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A4A4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想想看：把綠豆放在乾棉花、泡水棉花、冰箱裡，哪一個會發芽？為什麼？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整理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六個構造，一次整理</a:t>
            </a:r>
            <a:endParaRPr lang="en-US" sz="3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4206240"/>
                <a:gridCol w="28346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GenSekiGothic2 TW H" pitchFamily="34" charset="0"/>
                          <a:ea typeface="GenSekiGothic2 TW H" pitchFamily="34" charset="-122"/>
                          <a:cs typeface="GenSekiGothic2 TW H" pitchFamily="34" charset="-120"/>
                        </a:rPr>
                        <a:t>構造</a:t>
                      </a:r>
                      <a:endParaRPr lang="en-US" sz="1600" dirty="0">
                        <a:latin typeface="GenSekiGothic2 TW H" charset="0"/>
                        <a:ea typeface="GenSekiGothic2 TW H" charset="0"/>
                        <a:cs typeface="GenSekiGothic2 TW H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GenSekiGothic2 TW H" pitchFamily="34" charset="0"/>
                          <a:ea typeface="GenSekiGothic2 TW H" pitchFamily="34" charset="-122"/>
                          <a:cs typeface="GenSekiGothic2 TW H" pitchFamily="34" charset="-120"/>
                        </a:rPr>
                        <a:t>分類</a:t>
                      </a:r>
                      <a:endParaRPr lang="en-US" sz="1600" dirty="0">
                        <a:latin typeface="GenSekiGothic2 TW H" charset="0"/>
                        <a:ea typeface="GenSekiGothic2 TW H" charset="0"/>
                        <a:cs typeface="GenSekiGothic2 TW H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GenSekiGothic2 TW H" pitchFamily="34" charset="0"/>
                          <a:ea typeface="GenSekiGothic2 TW H" pitchFamily="34" charset="-122"/>
                          <a:cs typeface="GenSekiGothic2 TW H" pitchFamily="34" charset="-120"/>
                        </a:rPr>
                        <a:t>主要功能</a:t>
                      </a:r>
                      <a:endParaRPr lang="en-US" sz="1600" dirty="0">
                        <a:latin typeface="GenSekiGothic2 TW H" charset="0"/>
                        <a:ea typeface="GenSekiGothic2 TW H" charset="0"/>
                        <a:cs typeface="GenSekiGothic2 TW H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GenSekiGothic2 TW H" pitchFamily="34" charset="0"/>
                          <a:ea typeface="GenSekiGothic2 TW H" pitchFamily="34" charset="-122"/>
                          <a:cs typeface="GenSekiGothic2 TW H" pitchFamily="34" charset="-120"/>
                        </a:rPr>
                        <a:t>生活例子</a:t>
                      </a:r>
                      <a:endParaRPr lang="en-US" sz="1600" dirty="0">
                        <a:latin typeface="GenSekiGothic2 TW H" charset="0"/>
                        <a:ea typeface="GenSekiGothic2 TW H" charset="0"/>
                        <a:cs typeface="GenSekiGothic2 TW H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8F4A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根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8F4A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營養器官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吸收水分與礦物質、固定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蘿蔔、蔥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8F4A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莖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8F4A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營養器官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支持、運輸水分與養分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芹菜、樟樹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8F4A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葉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F8F4A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營養器官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光合作用、製造養分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高麗菜、仙人掌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8601A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花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8601A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生殖器官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傳粉、產生種子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朱槿、百合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8601A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果實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8601A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生殖器官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保護種子、幫助傳播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番茄、蒲公英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8601A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種子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8601A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生殖器官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繁殖下一代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GenSekiGothic2 TW M" pitchFamily="34" charset="0"/>
                          <a:ea typeface="GenSekiGothic2 TW M" pitchFamily="34" charset="-122"/>
                          <a:cs typeface="GenSekiGothic2 TW M" pitchFamily="34" charset="-120"/>
                        </a:rPr>
                        <a:t>綠豆、黃豆</a:t>
                      </a:r>
                      <a:endParaRPr lang="en-US" sz="1500" dirty="0">
                        <a:latin typeface="GenSekiGothic2 TW M" charset="0"/>
                        <a:ea typeface="GenSekiGothic2 TW M" charset="0"/>
                        <a:cs typeface="GenSekiGothic2 TW M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看出來了嗎？前三列是「顧自己」，後三列是「顧下一代」。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迷思澄清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三個常見誤解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F3EDE7"/>
          </a:solidFill>
          <a:ln w="12700">
            <a:solidFill>
              <a:srgbClr val="D9C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3A2E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2148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A5A50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根只是把植物抓住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83680" y="1828800"/>
            <a:ext cx="4937760" cy="1188720"/>
          </a:xfrm>
          <a:prstGeom prst="roundRect">
            <a:avLst>
              <a:gd name="adj" fmla="val 7692"/>
            </a:avLst>
          </a:prstGeom>
          <a:solidFill>
            <a:srgbClr val="EAF5E8"/>
          </a:solidFill>
          <a:ln w="12700">
            <a:solidFill>
              <a:srgbClr val="B7D8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84848" y="2103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8F4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296912" y="2148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5D2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根毛會吸收水分與礦物質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F3EDE7"/>
          </a:solidFill>
          <a:ln w="12700">
            <a:solidFill>
              <a:srgbClr val="D9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520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3A2E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✕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17320" y="3566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A5A50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莖只是一根柱子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583680" y="3246120"/>
            <a:ext cx="4937760" cy="1188720"/>
          </a:xfrm>
          <a:prstGeom prst="roundRect">
            <a:avLst>
              <a:gd name="adj" fmla="val 7692"/>
            </a:avLst>
          </a:prstGeom>
          <a:solidFill>
            <a:srgbClr val="EAF5E8"/>
          </a:solidFill>
          <a:ln w="12700">
            <a:solidFill>
              <a:srgbClr val="B7D8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4848" y="3520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8F4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96912" y="35661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5D2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莖裡有通道，負責運送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66344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F3EDE7"/>
          </a:solidFill>
          <a:ln w="12700">
            <a:solidFill>
              <a:srgbClr val="D9C7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937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3A2E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✕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17320" y="4983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A5A50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花只是好看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943600" y="4983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583680" y="4663440"/>
            <a:ext cx="4937760" cy="1188720"/>
          </a:xfrm>
          <a:prstGeom prst="roundRect">
            <a:avLst>
              <a:gd name="adj" fmla="val 7692"/>
            </a:avLst>
          </a:prstGeom>
          <a:solidFill>
            <a:srgbClr val="EAF5E8"/>
          </a:solidFill>
          <a:ln w="12700">
            <a:solidFill>
              <a:srgbClr val="B7D8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4937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8F4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96912" y="49834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5D2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花是生殖器官，會結成果實和種子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6172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756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看到「只是……」的說法，先停下來想一想。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隨堂測驗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10 題，挑戰植物小達人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到教學網頁的「隨堂測驗」作答；也可以由老師抽題，口頭快問快答。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2606040"/>
            <a:ext cx="960120" cy="960120"/>
          </a:xfrm>
          <a:prstGeom prst="ellipse">
            <a:avLst/>
          </a:prstGeom>
          <a:solidFill>
            <a:srgbClr val="EAF5E8"/>
          </a:solidFill>
          <a:ln w="25400">
            <a:solidFill>
              <a:srgbClr val="3F8F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6060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8F4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017520" y="2606040"/>
            <a:ext cx="960120" cy="960120"/>
          </a:xfrm>
          <a:prstGeom prst="ellipse">
            <a:avLst/>
          </a:prstGeom>
          <a:solidFill>
            <a:srgbClr val="FFF0E6"/>
          </a:solidFill>
          <a:ln w="25400">
            <a:solidFill>
              <a:srgbClr val="E86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26060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166360" y="2606040"/>
            <a:ext cx="960120" cy="960120"/>
          </a:xfrm>
          <a:prstGeom prst="ellipse">
            <a:avLst/>
          </a:prstGeom>
          <a:solidFill>
            <a:srgbClr val="EAF5E8"/>
          </a:solidFill>
          <a:ln w="25400">
            <a:solidFill>
              <a:srgbClr val="3F8F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26060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8F4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315200" y="2606040"/>
            <a:ext cx="960120" cy="960120"/>
          </a:xfrm>
          <a:prstGeom prst="ellipse">
            <a:avLst/>
          </a:prstGeom>
          <a:solidFill>
            <a:srgbClr val="FFF0E6"/>
          </a:solidFill>
          <a:ln w="25400">
            <a:solidFill>
              <a:srgbClr val="E860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6060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464040" y="2606040"/>
            <a:ext cx="960120" cy="960120"/>
          </a:xfrm>
          <a:prstGeom prst="ellipse">
            <a:avLst/>
          </a:prstGeom>
          <a:solidFill>
            <a:srgbClr val="EAF5E8"/>
          </a:solidFill>
          <a:ln w="25400">
            <a:solidFill>
              <a:srgbClr val="3F8F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4040" y="26060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8F4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68680" y="4206240"/>
            <a:ext cx="960120" cy="960120"/>
          </a:xfrm>
          <a:prstGeom prst="ellipse">
            <a:avLst/>
          </a:prstGeom>
          <a:solidFill>
            <a:srgbClr val="FFF0E6"/>
          </a:solidFill>
          <a:ln w="25400">
            <a:solidFill>
              <a:srgbClr val="E860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062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6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3017520" y="4206240"/>
            <a:ext cx="960120" cy="960120"/>
          </a:xfrm>
          <a:prstGeom prst="ellipse">
            <a:avLst/>
          </a:prstGeom>
          <a:solidFill>
            <a:srgbClr val="EAF5E8"/>
          </a:solidFill>
          <a:ln w="25400">
            <a:solidFill>
              <a:srgbClr val="3F8F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42062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8F4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7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5166360" y="4206240"/>
            <a:ext cx="960120" cy="960120"/>
          </a:xfrm>
          <a:prstGeom prst="ellipse">
            <a:avLst/>
          </a:prstGeom>
          <a:solidFill>
            <a:srgbClr val="FFF0E6"/>
          </a:solidFill>
          <a:ln w="25400">
            <a:solidFill>
              <a:srgbClr val="E86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42062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8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7315200" y="4206240"/>
            <a:ext cx="960120" cy="960120"/>
          </a:xfrm>
          <a:prstGeom prst="ellipse">
            <a:avLst/>
          </a:prstGeom>
          <a:solidFill>
            <a:srgbClr val="EAF5E8"/>
          </a:solidFill>
          <a:ln w="25400">
            <a:solidFill>
              <a:srgbClr val="3F8F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42062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8F4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9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9464040" y="4206240"/>
            <a:ext cx="960120" cy="960120"/>
          </a:xfrm>
          <a:prstGeom prst="ellipse">
            <a:avLst/>
          </a:prstGeom>
          <a:solidFill>
            <a:srgbClr val="FFF0E6"/>
          </a:solidFill>
          <a:ln w="25400">
            <a:solidFill>
              <a:srgbClr val="E86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64040" y="42062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0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10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答對 8 題以上：植物小達人！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B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212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行動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換你當植物偵探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22860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找一株植物，畫下它的六個構造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34290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觀察它的根，是鬚根還是軸根？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③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63040" y="45720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猜猜看：它的果實或種子怎麼旅行？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948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完成後，用一句話向大家介紹你的植物。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212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總結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7A1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帶走一句話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根吸水、莖運送、葉製造，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花果種子繁衍下一代。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1554480" cy="658368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25400">
            <a:solidFill>
              <a:srgbClr val="3F8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02336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根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606040" y="4023360"/>
            <a:ext cx="1554480" cy="658368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25400">
            <a:solidFill>
              <a:srgbClr val="3F8F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02336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莖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389120" y="4023360"/>
            <a:ext cx="1554480" cy="658368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25400">
            <a:solidFill>
              <a:srgbClr val="3F8F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402336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葉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172200" y="4023360"/>
            <a:ext cx="1554480" cy="658368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25400">
            <a:solidFill>
              <a:srgbClr val="FF7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402336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花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955280" y="4023360"/>
            <a:ext cx="1554480" cy="658368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25400">
            <a:solidFill>
              <a:srgbClr val="FF7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402336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果實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738360" y="4023360"/>
            <a:ext cx="1554480" cy="658368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25400">
            <a:solidFill>
              <a:srgbClr val="FF7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38360" y="402336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0E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種子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948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出口票：寫下一個構造＋它的功能。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778240" y="6473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植物的構造和生長　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植物的構造和生長</dc:title>
  <dc:subject>PptxGenJS Presentation</dc:subject>
  <dc:creator>自然科學教學專欄</dc:creator>
  <cp:lastModifiedBy>自然科學教學專欄</cp:lastModifiedBy>
  <cp:revision>1</cp:revision>
  <dcterms:created xsi:type="dcterms:W3CDTF">2026-10-22T14:28:51Z</dcterms:created>
  <dcterms:modified xsi:type="dcterms:W3CDTF">2026-10-22T14:28:51Z</dcterms:modified>
</cp:coreProperties>
</file>